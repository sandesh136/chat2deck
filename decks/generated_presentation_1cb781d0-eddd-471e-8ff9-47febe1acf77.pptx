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Manual Effort (Hours)</c:v>
                </c:pt>
              </c:strCache>
            </c:strRef>
          </c:tx>
          <c:spPr>
            <a:solidFill>
              <a:srgbClr val="4F81BD"/>
            </a:solidFill>
          </c:spPr>
          <c:cat>
            <c:strRef>
              <c:f>Sheet1!$A$2:$A$5</c:f>
              <c:strCache>
                <c:ptCount val="4"/>
                <c:pt idx="0">
                  <c:v>Market Research</c:v>
                </c:pt>
                <c:pt idx="1">
                  <c:v>Feature Prioritization</c:v>
                </c:pt>
                <c:pt idx="2">
                  <c:v>User Support</c:v>
                </c:pt>
                <c:pt idx="3">
                  <c:v>Testing Cycles</c:v>
                </c:pt>
              </c:strCache>
            </c:strRef>
          </c:cat>
          <c:val>
            <c:numRef>
              <c:f>Sheet1!$B$2:$B$5</c:f>
              <c:numCache>
                <c:formatCode>General</c:formatCode>
                <c:ptCount val="4"/>
                <c:pt idx="0">
                  <c:v>150</c:v>
                </c:pt>
                <c:pt idx="1">
                  <c:v>200</c:v>
                </c:pt>
                <c:pt idx="2">
                  <c:v>100</c:v>
                </c:pt>
                <c:pt idx="3">
                  <c:v>120</c:v>
                </c:pt>
              </c:numCache>
            </c:numRef>
          </c:val>
        </c:ser>
        <c:ser>
          <c:idx val="1"/>
          <c:order val="1"/>
          <c:tx>
            <c:strRef>
              <c:f>Sheet1!$C$1</c:f>
              <c:strCache>
                <c:ptCount val="1"/>
                <c:pt idx="0">
                  <c:v>AI-Assisted Effort (Hours)</c:v>
                </c:pt>
              </c:strCache>
            </c:strRef>
          </c:tx>
          <c:spPr>
            <a:solidFill>
              <a:srgbClr val="8DCE98"/>
            </a:solidFill>
          </c:spPr>
          <c:cat>
            <c:strRef>
              <c:f>Sheet1!$A$2:$A$5</c:f>
              <c:strCache>
                <c:ptCount val="4"/>
                <c:pt idx="0">
                  <c:v>Market Research</c:v>
                </c:pt>
                <c:pt idx="1">
                  <c:v>Feature Prioritization</c:v>
                </c:pt>
                <c:pt idx="2">
                  <c:v>User Support</c:v>
                </c:pt>
                <c:pt idx="3">
                  <c:v>Testing Cycles</c:v>
                </c:pt>
              </c:strCache>
            </c:strRef>
          </c:cat>
          <c:val>
            <c:numRef>
              <c:f>Sheet1!$C$2:$C$5</c:f>
              <c:numCache>
                <c:formatCode>General</c:formatCode>
                <c:ptCount val="4"/>
                <c:pt idx="0">
                  <c:v>50</c:v>
                </c:pt>
                <c:pt idx="1">
                  <c:v>120</c:v>
                </c:pt>
                <c:pt idx="2">
                  <c:v>30</c:v>
                </c:pt>
                <c:pt idx="3">
                  <c:v>80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spPr>
            <a:ln>
              <a:solidFill>
                <a:srgbClr val="D9D9D9"/>
              </a:solidFill>
            </a:ln>
          </c:spPr>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in Product Management 🧠</a:t>
            </a:r>
          </a:p>
        </p:txBody>
      </p:sp>
      <p:sp>
        <p:nvSpPr>
          <p:cNvPr id="3" name="Subtitle 2"/>
          <p:cNvSpPr>
            <a:spLocks noGrp="1"/>
          </p:cNvSpPr>
          <p:nvPr>
            <p:ph type="subTitle" idx="1"/>
          </p:nvPr>
        </p:nvSpPr>
        <p:spPr/>
        <p:txBody>
          <a:bodyPr/>
          <a:lstStyle/>
          <a:p>
            <a:pPr>
              <a:defRPr sz="2400"/>
            </a:pPr>
            <a:r>
              <a:t>Driving Innovation &amp; Efficiency Across the Product Lifecycle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Applications of AI in PM 🚀</a:t>
            </a:r>
          </a:p>
        </p:txBody>
      </p:sp>
      <p:sp>
        <p:nvSpPr>
          <p:cNvPr id="3" name="Content Placeholder 2"/>
          <p:cNvSpPr>
            <a:spLocks noGrp="1"/>
          </p:cNvSpPr>
          <p:nvPr>
            <p:ph idx="1"/>
          </p:nvPr>
        </p:nvSpPr>
        <p:spPr/>
        <p:txBody>
          <a:bodyPr/>
          <a:lstStyle/>
          <a:p/>
          <a:p>
            <a:pPr>
              <a:defRPr sz="2000">
                <a:solidFill>
                  <a:srgbClr val="333333"/>
                </a:solidFill>
              </a:defRPr>
            </a:pPr>
            <a:r>
              <a:t>💡 Market Intelligence &amp; Trend Forecasting</a:t>
            </a:r>
          </a:p>
          <a:p>
            <a:pPr>
              <a:defRPr sz="2000">
                <a:solidFill>
                  <a:srgbClr val="333333"/>
                </a:solidFill>
              </a:defRPr>
            </a:pPr>
            <a:r>
              <a:t>🎯 Personalized User Experiences &amp; Recommendations</a:t>
            </a:r>
          </a:p>
          <a:p>
            <a:pPr>
              <a:defRPr sz="2000">
                <a:solidFill>
                  <a:srgbClr val="333333"/>
                </a:solidFill>
              </a:defRPr>
            </a:pPr>
            <a:r>
              <a:t>📊 Data-Driven Feature Prioritization &amp; Roadmapping</a:t>
            </a:r>
          </a:p>
          <a:p>
            <a:pPr>
              <a:defRPr sz="2000">
                <a:solidFill>
                  <a:srgbClr val="333333"/>
                </a:solidFill>
              </a:defRPr>
            </a:pPr>
            <a:r>
              <a:t>🛠️ Automated User Feedback Analysis &amp; Sentiment Grouping</a:t>
            </a:r>
          </a:p>
          <a:p>
            <a:pPr>
              <a:defRPr sz="2000">
                <a:solidFill>
                  <a:srgbClr val="333333"/>
                </a:solidFill>
              </a:defRPr>
            </a:pPr>
            <a:r>
              <a:t>📈 Predictive Analytics for Churn &amp; Engagement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AI's Impact on Product Team Efficiency 📈</a:t>
            </a:r>
          </a:p>
        </p:txBody>
      </p:sp>
      <p:graphicFrame>
        <p:nvGraphicFramePr>
          <p:cNvPr id="3" name="Chart 2"/>
          <p:cNvGraphicFramePr>
            <a:graphicFrameLocks noGrp="1"/>
          </p:cNvGraphicFramePr>
          <p:nvPr/>
        </p:nvGraphicFramePr>
        <p:xfrm>
          <a:off x="914400" y="1828800"/>
          <a:ext cx="73152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Transforming Product Management with AI ✅</a:t>
            </a:r>
          </a:p>
        </p:txBody>
      </p:sp>
      <p:sp>
        <p:nvSpPr>
          <p:cNvPr id="3" name="Content Placeholder 2"/>
          <p:cNvSpPr>
            <a:spLocks noGrp="1"/>
          </p:cNvSpPr>
          <p:nvPr>
            <p:ph idx="1"/>
          </p:nvPr>
        </p:nvSpPr>
        <p:spPr/>
        <p:txBody>
          <a:bodyPr/>
          <a:lstStyle/>
          <a:p/>
          <a:p>
            <a:pPr>
              <a:defRPr sz="1800">
                <a:solidFill>
                  <a:srgbClr val="333333"/>
                </a:solidFill>
              </a:defRPr>
            </a:pPr>
            <a:r>
              <a:t>AI empowers product managers to make faster, more informed decisions by providing deep insights into market trends, customer behavior, and product performance. It automates repetitive tasks, freeing up valuable time for strategic thinking and innovation. This leads to more successful products, happier customers, and optimized resource allocation.</a:t>
            </a:r>
          </a:p>
        </p:txBody>
      </p:sp>
      <p:sp>
        <p:nvSpPr>
          <p:cNvPr id="4" name="Rectangular Callout 3"/>
          <p:cNvSpPr/>
          <p:nvPr/>
        </p:nvSpPr>
        <p:spPr>
          <a:xfrm>
            <a:off x="457200" y="914400"/>
            <a:ext cx="3200400" cy="1371600"/>
          </a:xfrm>
          <a:prstGeom prst="wedgeRectCallou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r>
              <a:rPr b="1" sz="1600">
                <a:solidFill>
                  <a:srgbClr val="333333"/>
                </a:solidFill>
                <a:latin typeface="Arial"/>
              </a:rPr>
              <a:t>Empower Your Product Teams!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Simplified AI Product Workflow ⚙️</a:t>
            </a:r>
          </a:p>
        </p:txBody>
      </p:sp>
      <p:sp>
        <p:nvSpPr>
          <p:cNvPr id="3" name="Rounded Rectangle 2"/>
          <p:cNvSpPr/>
          <p:nvPr/>
        </p:nvSpPr>
        <p:spPr>
          <a:xfrm>
            <a:off x="640080" y="2286000"/>
            <a:ext cx="1645920" cy="914400"/>
          </a:xfrm>
          <a:prstGeom prst="roundRect">
            <a:avLst/>
          </a:prstGeom>
          <a:solidFill>
            <a:srgbClr val="4A90E2"/>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Define Problem &amp; Goals</a:t>
            </a:r>
          </a:p>
        </p:txBody>
      </p:sp>
      <p:sp>
        <p:nvSpPr>
          <p:cNvPr id="4" name="Rounded Rectangle 3"/>
          <p:cNvSpPr/>
          <p:nvPr/>
        </p:nvSpPr>
        <p:spPr>
          <a:xfrm>
            <a:off x="2743200" y="2286000"/>
            <a:ext cx="1645920" cy="914400"/>
          </a:xfrm>
          <a:prstGeom prst="roundRect">
            <a:avLst/>
          </a:prstGeom>
          <a:solidFill>
            <a:srgbClr val="F7B54D"/>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Data Acquisition &amp; Prep</a:t>
            </a:r>
          </a:p>
        </p:txBody>
      </p:sp>
      <p:sp>
        <p:nvSpPr>
          <p:cNvPr id="5" name="Rounded Rectangle 4"/>
          <p:cNvSpPr/>
          <p:nvPr/>
        </p:nvSpPr>
        <p:spPr>
          <a:xfrm>
            <a:off x="4846320" y="2286000"/>
            <a:ext cx="1645920" cy="914400"/>
          </a:xfrm>
          <a:prstGeom prst="roundRect">
            <a:avLst/>
          </a:prstGeom>
          <a:solidFill>
            <a:srgbClr val="67A941"/>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Model Dev &amp; Training</a:t>
            </a:r>
          </a:p>
        </p:txBody>
      </p:sp>
      <p:sp>
        <p:nvSpPr>
          <p:cNvPr id="6" name="Rounded Rectangle 5"/>
          <p:cNvSpPr/>
          <p:nvPr/>
        </p:nvSpPr>
        <p:spPr>
          <a:xfrm>
            <a:off x="6949440" y="2286000"/>
            <a:ext cx="1645920" cy="914400"/>
          </a:xfrm>
          <a:prstGeom prst="roundRect">
            <a:avLst/>
          </a:prstGeom>
          <a:solidFill>
            <a:srgbClr val="9B59B6"/>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Deployment &amp; Integration</a:t>
            </a:r>
          </a:p>
        </p:txBody>
      </p:sp>
      <p:sp>
        <p:nvSpPr>
          <p:cNvPr id="7" name="Rounded Rectangle 6"/>
          <p:cNvSpPr/>
          <p:nvPr/>
        </p:nvSpPr>
        <p:spPr>
          <a:xfrm>
            <a:off x="9052560" y="2286000"/>
            <a:ext cx="1645920" cy="914400"/>
          </a:xfrm>
          <a:prstGeom prst="round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Monitor, Evaluate &amp; Iterate</a:t>
            </a:r>
          </a:p>
        </p:txBody>
      </p:sp>
      <p:cxnSp>
        <p:nvCxnSpPr>
          <p:cNvPr id="8" name="Connector 7"/>
          <p:cNvCxnSpPr/>
          <p:nvPr/>
        </p:nvCxnSpPr>
        <p:spPr>
          <a:xfrm>
            <a:off x="2286000" y="2743200.0"/>
            <a:ext cx="457200" cy="0.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389120" y="2743200.0"/>
            <a:ext cx="457200" cy="0.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492240" y="2743200.0"/>
            <a:ext cx="457200" cy="0.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595360" y="2743200.0"/>
            <a:ext cx="457200" cy="0.0"/>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